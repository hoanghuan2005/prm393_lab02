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và các bạn, hôm nay nhóm em xin trình bày dự án Lab 2 mang tên 'Why I Buy?'. Được lấy cảm hứng từ cuốn sách The Psychology of Money của Morgan Housel, sản phẩm của nhóm không đi theo lối mòn của các ứng dụng quản lý chi tiêu truyền thống là đếm từng đồng và gây áp lực. Thay vào đó, chúng em tập trung giúp người trẻ hiểu được động cơ tâm lý và những bẫy cảm xúc đằng sau từng quyết định mua sắm, với triết lý: Thấu hiểu bản thân trước khi muốn thay đổi thói quen.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Xuất phát từ nghiên cứu người dùng, bạn Nam - 22 tuổi đại diện cho thế hệ Gen Z thường xuyên mua sắm online. Nam từng thử qua nhiều ứng dụng chi tiêu nhưng đều từ bỏ vì cảm giác tội lỗi mỗi khi thấy biểu đồ màu đỏ cảnh báo. Vấn đề của Nam không phải là không biết tính toán, mà là Nam không nhận ra các kích thích cảm xúc như căng thẳng hay giảm giá đêm muộn đang chi phối mình. Do đó, mục tiêu của nhóm là tạo ra một công cụ ghi chép siêu nhanh dưới 20 giây và hoàn toàn không phán xét người dùng.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cấu trúc thông tin, nhóm xây dựng hệ thống 10 màn hình với thanh Bottom Navigation 5 tab chính. Chúng em tách biệt rõ ràng giữa màn hình cấp cao như Dashboard, Patterns, Insights và các màn hình hành động cấp con dạng modal như luồng ghi khoản mua 2 bước hay trang chiêm nghiệm tháng, đảm bảo người dùng định vị không gian cực kỳ dễ dàng.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đã thiết kế 3 luồng người dùng hoàn chỉnh. Điểm nổi bật nhất ở Flow 1 là tốc độ: chia làm 2 bước để giảm tối đa rào cản. Flow 2 hướng dẫn người dùng tự chiêm nghiệm từ biểu đồ đến hành động thực tế. Và đặc biệt, Flow 3 đảm bảo không bao giờ làm mất dữ liệu của người dùng nhờ cơ chế cảnh báo lỗi tại chỗ và tự động lưu nháp ngoại tuyến khi mất mạng.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giai đoạn khởi tạo UI, nhóm không đưa ra các câu lệnh chung chung mà áp dụng kỹ thuật Prompt chuẩn xác: xác định rõ vai trò AI, persona mục tiêu, kích thước chuẩn di động, bảng màu chỉ định và các ràng buộc công thái học. Kết quả từ Google Stitch giúp nhóm có được bố cục khung thô ban đầu rất nhanh chóng.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phần nhóm tâm đắc nhất: không nhận nguyên si những gì AI tạo ra. Nhóm đã áp dụng 10 nguyên lý Nielsen để tìm ra 5 lỗi UX nghiêm trọng của AI. Sau đó, chúng em thực hiện 3 vòng lặp với 3 mục tiêu độc lập: Vòng 1 giải quyết quá tải nhận thức bằng cách tách đôi form; Vòng 2 chuẩn hóa công thái học và tương phản tiếp cận; và Vòng 3 đưa hồn cốt của cuốn sách The Psychology of Money vào các biểu đồ thấu hiểu cảm xúc thay vì những con số tiền tệ vô hồn.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Tất cả các quyết định của nhóm đều gắn chặt với Persona và Nielsen Heuristics. Chúng em kiên quyết Reject cảnh báo đỏ vì nó đi ngược lại tâm lý người dùng; Modify form dài và alert dialog thành luồng 2 bước mượt mà với inline feedback; đồng thời Accept lưới thẻ chọn lý do trực quan và tính năng lưu nháp ngoại tuyến để tạo ra trải nghiệm an tâm nhất.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Từ các bản phác thảo wireframe, nhóm đã phát triển thành bộ 10 màn hình hoàn chỉnh. Mọi màn hình đều được thiết kế tỉ mỉ với đầy đủ 4 trạng thái: Default, Skeleton Loading, Empty State ấm áp và Error State có tính xây dựng, đảm bảo trải nghiệm người dùng không bao giờ rơi vào ngõ cụt.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Toàn bộ thiết kế được xây dựng trên một Design System chuẩn mực. Nhóm sử dụng triệt để Figma Variables cho màu sắc, typography và spacing lưới 8dp. 9 nhóm component đều được đóng gói bằng Auto Layout và Variants đầy đủ trạng thái Hover, Pressed, Disabled, giúp việc mở rộng và bảo trì sau này cực kỳ dễ dàng.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khả năng tiếp cận, nhóm tuân thủ nghiêm ngặt chuẩn WCAG 2.1 AA. Mọi văn bản đều đạt độ tương phản trên 7:1, vùng chạm đều từ 48dp trở lên. Chúng em cũng chứng minh thiết kế hiển thị hoàn hảo trên cả hai độ phân giải 360dp và 412dp mà không hề bị vỡ layout hay che khuất bàn phím.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Ngay sau đây, em xin phép mở trực tiếp Prototype trên Figma để demo cả 3 luồng hoạt động: từ thao tác ghi nhận thần tốc, khám phá các biểu đồ phân tích tâm lý, cho đến việc xử lý lỗi và modal overlay tương tác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phía kỹ thuật, tài liệu flutter-handoff.md của nhóm đã chuẩn bị sẵn sàng toàn bộ bảng mapping tokens và đặc tả 6 phần chi tiết để lập trình viên có thể code ngay màn hình bằng Flutter. Nhóm xin chân thành cảm ơn thầy và các bạn đã lắng nghe, nhóm rất mong nhận được câu hỏi và góp ý từ thầy ạ!</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10362895"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0" rIns="731520" tIns="731520"/>
          <a:lstStyle/>
          <a:p>
            <a:pPr algn="ctr">
              <a:spcAft>
                <a:spcPts val="1400"/>
              </a:spcAft>
              <a:defRPr sz="1300" b="1">
                <a:solidFill>
                  <a:srgbClr val="DDA15E"/>
                </a:solidFill>
                <a:latin typeface="Arial"/>
              </a:defRPr>
            </a:pPr>
            <a:r>
              <a:t>PRM393 / PRM323 — LAB 2: AI-ASSISTED UI/UX DESIGN</a:t>
            </a:r>
          </a:p>
          <a:p>
            <a:pPr>
              <a:spcAft>
                <a:spcPts val="1000"/>
              </a:spcAft>
              <a:defRPr sz="3600" b="1">
                <a:solidFill>
                  <a:srgbClr val="2D6A4F"/>
                </a:solidFill>
                <a:latin typeface="Arial"/>
              </a:defRPr>
            </a:pPr>
            <a:r>
              <a:t>Why I Buy? – The Psychology of Money</a:t>
            </a:r>
          </a:p>
          <a:p>
            <a:pPr>
              <a:spcAft>
                <a:spcPts val="2800"/>
              </a:spcAft>
              <a:defRPr sz="1800">
                <a:solidFill>
                  <a:srgbClr val="4A5568"/>
                </a:solidFill>
                <a:latin typeface="Arial"/>
              </a:defRPr>
            </a:pPr>
            <a:r>
              <a:t>Mindful Spending Companion: 'Understand before you change'</a:t>
            </a:r>
          </a:p>
          <a:p>
            <a:pPr>
              <a:defRPr sz="1400">
                <a:solidFill>
                  <a:srgbClr val="1A202C"/>
                </a:solidFill>
                <a:latin typeface="Arial"/>
              </a:defRPr>
            </a:pPr>
            <a:r>
              <a:t>• Ý tưởng: Dựa trên cuốn sách kinh điển của Morgan Housel, tập trung vào ĐỘNG CƠ TÂM LÝ thay vì chỉ đếm số tiền.</a:t>
            </a:r>
            <a:br/>
            <a:r>
              <a:t>• Công nghệ: Google Stitch (AI Generation) → Figma Design System (10 Screens) → Flutter Handoff.</a:t>
            </a:r>
            <a:br/>
            <a:r>
              <a:t>• Nhóm thực hiện: Sinh viên PRM393 | FA26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DDA15E"/>
                </a:solidFill>
                <a:latin typeface="Arial"/>
              </a:defRPr>
            </a:pPr>
            <a:r>
              <a:t>02. RESEARCH &amp; TARGET AUDIENCE</a:t>
            </a:r>
          </a:p>
          <a:p>
            <a:pPr>
              <a:spcAft>
                <a:spcPts val="200"/>
              </a:spcAft>
              <a:defRPr sz="2400" b="1">
                <a:solidFill>
                  <a:srgbClr val="2D6A4F"/>
                </a:solidFill>
                <a:latin typeface="Arial"/>
              </a:defRPr>
            </a:pPr>
            <a:r>
              <a:t>Problem Statement &amp; User Persona</a:t>
            </a:r>
          </a:p>
          <a:p>
            <a:pPr>
              <a:defRPr sz="1200">
                <a:solidFill>
                  <a:srgbClr val="4A5568"/>
                </a:solidFill>
                <a:latin typeface="Arial"/>
              </a:defRPr>
            </a:pPr>
            <a:r>
              <a:t>Chân dung người dùng mục tiêu và 4 rào cản tâm lý cốt lõi</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000"/>
              </a:spcAft>
              <a:defRPr b="1" sz="1600">
                <a:solidFill>
                  <a:srgbClr val="2D6A4F"/>
                </a:solidFill>
              </a:defRPr>
            </a:pPr>
            <a:r>
              <a:t>👤 Primary Persona: Nguyễn Hải Nam (22 tuổi)</a:t>
            </a:r>
          </a:p>
          <a:p>
            <a:pPr>
              <a:defRPr sz="1300">
                <a:solidFill>
                  <a:srgbClr val="1A202C"/>
                </a:solidFill>
              </a:defRPr>
            </a:pPr>
            <a:r>
              <a:t>• Bối cảnh: Sinh viên năm cuối CNTT &amp; Thực tập sinh.</a:t>
            </a:r>
            <a:br/>
            <a:r>
              <a:t>• Thu nhập: 7 - 9 triệu/tháng.</a:t>
            </a:r>
            <a:br/>
            <a:r>
              <a:t>• Thói quen: Mua sắm online thường xuyên (Shopee, TikTok Shop, GrabFood). Hay săn sale đêm muộn khi mệt mỏi.</a:t>
            </a:r>
            <a:br/>
            <a:r>
              <a:t>• Hành vi quá khứ: Đã từng tải nhiều app chi tiêu nhưng bỏ sau 1 tuần vì nản lòng và cảm giác tội lỗi khi thấy số dư âm.</a:t>
            </a:r>
          </a:p>
        </p:txBody>
      </p:sp>
      <p:sp>
        <p:nvSpPr>
          <p:cNvPr id="6" name="Rounded Rectangle 5"/>
          <p:cNvSpPr/>
          <p:nvPr/>
        </p:nvSpPr>
        <p:spPr>
          <a:xfrm>
            <a:off x="6217920" y="164592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365760"/>
          <a:lstStyle/>
          <a:p>
            <a:pPr algn="ctr">
              <a:spcAft>
                <a:spcPts val="1000"/>
              </a:spcAft>
              <a:defRPr b="1" sz="1600">
                <a:solidFill>
                  <a:srgbClr val="2D6A4F"/>
                </a:solidFill>
              </a:defRPr>
            </a:pPr>
            <a:r>
              <a:t>⚡ 4 Pain Points &amp; Mục tiêu đo lường</a:t>
            </a:r>
          </a:p>
          <a:p>
            <a:pPr>
              <a:defRPr sz="1300">
                <a:solidFill>
                  <a:srgbClr val="1A202C"/>
                </a:solidFill>
              </a:defRPr>
            </a:pPr>
            <a:r>
              <a:t>1. Cảm giác tội lỗi: Nhìn biểu đồ cảnh báo đỏ khiến user né tránh mở app.</a:t>
            </a:r>
            <a:br/>
            <a:r>
              <a:t>2. Ma sát nhập liệu: Nhập quá nhiều danh mục phụ cho 1 cốc cà phê.</a:t>
            </a:r>
            <a:br/>
            <a:r>
              <a:t>3. Mù mờ động cơ: Biết số tiền tiêu nhưng không biết vì sao mình mua.</a:t>
            </a:r>
            <a:br/>
            <a:r>
              <a:t>4. Bẫy kích thích: Mua sắm vì FOMO, quảng cáo và stress đêm muộn.</a:t>
            </a:r>
            <a:br/>
            <a:br/>
            <a:r>
              <a:t>🎯 Mục tiêu đo lường (Success Criteria):</a:t>
            </a:r>
            <a:br/>
            <a:r>
              <a:t>• Ghi nhận khoản mua &amp; gán lý do trong ≤ 20 giây.</a:t>
            </a:r>
            <a:br/>
            <a:r>
              <a:t>• Tỷ lệ gắn nhãn lý do đạt ≥ 90%.</a:t>
            </a:r>
            <a:br/>
            <a:r>
              <a:t>• Giảm 30% quyết định mua bốc đồng sau 30 ngày.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DDA15E"/>
                </a:solidFill>
                <a:latin typeface="Arial"/>
              </a:defRPr>
            </a:pPr>
            <a:r>
              <a:t>03. ARCHITECTURE &amp; SITEMAP</a:t>
            </a:r>
          </a:p>
          <a:p>
            <a:pPr>
              <a:spcAft>
                <a:spcPts val="200"/>
              </a:spcAft>
              <a:defRPr sz="2400" b="1">
                <a:solidFill>
                  <a:srgbClr val="2D6A4F"/>
                </a:solidFill>
                <a:latin typeface="Arial"/>
              </a:defRPr>
            </a:pPr>
            <a:r>
              <a:t>Information Architecture (10 Screens)</a:t>
            </a:r>
          </a:p>
          <a:p>
            <a:pPr>
              <a:defRPr sz="1200">
                <a:solidFill>
                  <a:srgbClr val="4A5568"/>
                </a:solidFill>
                <a:latin typeface="Arial"/>
              </a:defRPr>
            </a:pPr>
            <a:r>
              <a:t>Cấu trúc phân tầng điều hướng 5 Tabs chính và Modals cấp con</a:t>
            </a:r>
          </a:p>
        </p:txBody>
      </p:sp>
      <p:sp>
        <p:nvSpPr>
          <p:cNvPr id="5" name="Rounded Rectangle 4"/>
          <p:cNvSpPr/>
          <p:nvPr/>
        </p:nvSpPr>
        <p:spPr>
          <a:xfrm>
            <a:off x="7315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000"/>
              </a:spcAft>
              <a:defRPr b="1" sz="1500">
                <a:solidFill>
                  <a:srgbClr val="2D6A4F"/>
                </a:solidFill>
              </a:defRPr>
            </a:pPr>
            <a:r>
              <a:t>📱 Cấp 0: Onboarding &amp; Entry</a:t>
            </a:r>
          </a:p>
          <a:p>
            <a:pPr>
              <a:defRPr sz="1200">
                <a:solidFill>
                  <a:srgbClr val="1A202C"/>
                </a:solidFill>
              </a:defRPr>
            </a:pPr>
            <a:r>
              <a:t>01. Onboarding Screen</a:t>
            </a:r>
            <a:br/>
            <a:r>
              <a:t>• Giới thiệu triết lý 'The Psychology of Money'.</a:t>
            </a:r>
            <a:br/>
            <a:r>
              <a:t>• Thông điệp 'Understand before you change'.</a:t>
            </a:r>
            <a:br/>
            <a:r>
              <a:t>• Carousel 3 bước chuyển mượt mà.</a:t>
            </a:r>
          </a:p>
        </p:txBody>
      </p:sp>
      <p:sp>
        <p:nvSpPr>
          <p:cNvPr id="6" name="Rounded Rectangle 5"/>
          <p:cNvSpPr/>
          <p:nvPr/>
        </p:nvSpPr>
        <p:spPr>
          <a:xfrm>
            <a:off x="43891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000"/>
              </a:spcAft>
              <a:defRPr b="1" sz="1500">
                <a:solidFill>
                  <a:srgbClr val="2D6A4F"/>
                </a:solidFill>
              </a:defRPr>
            </a:pPr>
            <a:r>
              <a:t>🧭 Cấp 1: Bottom Navigation</a:t>
            </a:r>
          </a:p>
          <a:p>
            <a:pPr>
              <a:defRPr sz="1200">
                <a:solidFill>
                  <a:srgbClr val="1A202C"/>
                </a:solidFill>
              </a:defRPr>
            </a:pPr>
            <a:r>
              <a:t>5 Tabs chính xuyên suốt:</a:t>
            </a:r>
            <a:br/>
            <a:r>
              <a:t>• Tab 1: 02. Home Dashboard</a:t>
            </a:r>
            <a:br/>
            <a:r>
              <a:t>• Tab 2: 06. Purchase History</a:t>
            </a:r>
            <a:br/>
            <a:r>
              <a:t>• Tab 3: 07. Buying Patterns</a:t>
            </a:r>
            <a:br/>
            <a:r>
              <a:t>• Tab 4: 08. Personal Insights</a:t>
            </a:r>
            <a:br/>
            <a:r>
              <a:t>• Tab 5: 10. Profile &amp; Settings</a:t>
            </a:r>
            <a:br/>
            <a:br/>
            <a:r>
              <a:t>→ Đảm bảo chuyển đổi tab tức thì, không bị mất bối cảnh.</a:t>
            </a:r>
          </a:p>
        </p:txBody>
      </p:sp>
      <p:sp>
        <p:nvSpPr>
          <p:cNvPr id="7" name="Rounded Rectangle 6"/>
          <p:cNvSpPr/>
          <p:nvPr/>
        </p:nvSpPr>
        <p:spPr>
          <a:xfrm>
            <a:off x="80467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spcAft>
                <a:spcPts val="1000"/>
              </a:spcAft>
              <a:defRPr b="1" sz="1500">
                <a:solidFill>
                  <a:srgbClr val="2D6A4F"/>
                </a:solidFill>
              </a:defRPr>
            </a:pPr>
            <a:r>
              <a:t>⚙️ Cấp 2: Modals &amp; Detail</a:t>
            </a:r>
          </a:p>
          <a:p>
            <a:pPr>
              <a:defRPr sz="1200">
                <a:solidFill>
                  <a:srgbClr val="1A202C"/>
                </a:solidFill>
              </a:defRPr>
            </a:pPr>
            <a:r>
              <a:t>Các màn hình hành động:</a:t>
            </a:r>
            <a:br/>
            <a:r>
              <a:t>• 03. Add Purchase (Bước 1: Tiền &amp; Tên)</a:t>
            </a:r>
            <a:br/>
            <a:r>
              <a:t>• 04. Purchase Reason (Bước 2: 8 lý do)</a:t>
            </a:r>
            <a:br/>
            <a:r>
              <a:t>• 05. Purchase Detail (Chi tiết &amp; Nhật ký cảm xúc)</a:t>
            </a:r>
            <a:br/>
            <a:r>
              <a:t>• 09. Monthly Reflection (Báo cáo tháng)</a:t>
            </a:r>
            <a:br/>
            <a:br/>
            <a:r>
              <a:t>→ Dạng Modal trượt từ dưới lên, có nút thoát rõ ràng.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DDA15E"/>
                </a:solidFill>
                <a:latin typeface="Arial"/>
              </a:defRPr>
            </a:pPr>
            <a:r>
              <a:t>04. INTERACTION FLOWS</a:t>
            </a:r>
          </a:p>
          <a:p>
            <a:pPr>
              <a:spcAft>
                <a:spcPts val="200"/>
              </a:spcAft>
              <a:defRPr sz="2400" b="1">
                <a:solidFill>
                  <a:srgbClr val="2D6A4F"/>
                </a:solidFill>
                <a:latin typeface="Arial"/>
              </a:defRPr>
            </a:pPr>
            <a:r>
              <a:t>Three Core User Flows</a:t>
            </a:r>
          </a:p>
          <a:p>
            <a:pPr>
              <a:defRPr sz="1200">
                <a:solidFill>
                  <a:srgbClr val="4A5568"/>
                </a:solidFill>
                <a:latin typeface="Arial"/>
              </a:defRPr>
            </a:pPr>
            <a:r>
              <a:t>Các kịch bản tương tác người dùng: Happy path, Alternative path &amp; Error Recovery</a:t>
            </a:r>
          </a:p>
        </p:txBody>
      </p:sp>
      <p:sp>
        <p:nvSpPr>
          <p:cNvPr id="5" name="Rounded Rectangle 4"/>
          <p:cNvSpPr/>
          <p:nvPr/>
        </p:nvSpPr>
        <p:spPr>
          <a:xfrm>
            <a:off x="731520" y="1645920"/>
            <a:ext cx="10728655"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400">
                <a:solidFill>
                  <a:srgbClr val="2D6A4F"/>
                </a:solidFill>
              </a:defRPr>
            </a:pPr>
            <a:r>
              <a:t>🟢 Flow 1: Record a Purchase (Happy Path)</a:t>
            </a:r>
          </a:p>
          <a:p>
            <a:pPr>
              <a:defRPr sz="1200"/>
            </a:pPr>
            <a:r>
              <a:t>Home Dashboard → [Nhấn + Ghi khoản mua] → Nhập Tiền &amp; Tên (Bước 1) → Chọn 1 trong 8 lý do tâm lý (Bước 2) → Lưu nhanh → Toast xác nhận &amp; Cập nhật Home (Thời gian hoàn thành: 18 giây).</a:t>
            </a:r>
          </a:p>
        </p:txBody>
      </p:sp>
      <p:sp>
        <p:nvSpPr>
          <p:cNvPr id="6" name="Rounded Rectangle 5"/>
          <p:cNvSpPr/>
          <p:nvPr/>
        </p:nvSpPr>
        <p:spPr>
          <a:xfrm>
            <a:off x="731520" y="3200400"/>
            <a:ext cx="10728655"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400">
                <a:solidFill>
                  <a:srgbClr val="DDA15E"/>
                </a:solidFill>
              </a:defRPr>
            </a:pPr>
            <a:r>
              <a:t>🟡 Flow 2: Understand Buying Behavior (Chiêm nghiệm thói quen)</a:t>
            </a:r>
          </a:p>
          <a:p>
            <a:pPr>
              <a:defRPr sz="1200"/>
            </a:pPr>
            <a:r>
              <a:t>Home Dashboard → Tab Buying Patterns (Khám phá Donut Chart &amp; Giờ bốc đồng) → Tab Personal Insights (Đọc gợi ý AI: Quy tắc 72h) → Mở Monthly Reflection → Tự đánh giá điểm thỏa mãn (Rate 1-5 sao) &amp; Đặt mục tiêu tháng mới.</a:t>
            </a:r>
          </a:p>
        </p:txBody>
      </p:sp>
      <p:sp>
        <p:nvSpPr>
          <p:cNvPr id="7" name="Rounded Rectangle 6"/>
          <p:cNvSpPr/>
          <p:nvPr/>
        </p:nvSpPr>
        <p:spPr>
          <a:xfrm>
            <a:off x="731520" y="4754880"/>
            <a:ext cx="10728655"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400">
                <a:solidFill>
                  <a:srgbClr val="C53030"/>
                </a:solidFill>
              </a:defRPr>
            </a:pPr>
            <a:r>
              <a:t>🔴 Flow 3: Error &amp; Recovery (Xử lý lỗi &amp; Phục hồi an toàn)</a:t>
            </a:r>
          </a:p>
          <a:p>
            <a:pPr>
              <a:defRPr sz="1200"/>
            </a:pPr>
            <a:r>
              <a:t>Add Purchase → Nhập thiếu / Số tiền 0đ → Inline Error &amp; Auto-focus sửa lỗi tại chỗ → Bấm Lưu khi Mất mạng → Tự động lưu ngoại tuyến (Offline Local Draft) → Hiện Banner nhẹ: 'Đã lưu bản nháp an toàn, sẽ tự đồng bộ khi có mạng' (0% Data Loss).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DDA15E"/>
                </a:solidFill>
                <a:latin typeface="Arial"/>
              </a:defRPr>
            </a:pPr>
            <a:r>
              <a:t>05. AI GENERATION</a:t>
            </a:r>
          </a:p>
          <a:p>
            <a:pPr>
              <a:spcAft>
                <a:spcPts val="200"/>
              </a:spcAft>
              <a:defRPr sz="2400" b="1">
                <a:solidFill>
                  <a:srgbClr val="2D6A4F"/>
                </a:solidFill>
                <a:latin typeface="Arial"/>
              </a:defRPr>
            </a:pPr>
            <a:r>
              <a:t>AI UI Generation with Google Stitch</a:t>
            </a:r>
          </a:p>
          <a:p>
            <a:pPr>
              <a:defRPr sz="1200">
                <a:solidFill>
                  <a:srgbClr val="4A5568"/>
                </a:solidFill>
                <a:latin typeface="Arial"/>
              </a:defRPr>
            </a:pPr>
            <a:r>
              <a:t>Khởi tạo giao diện bằng kỹ thuật Prompting có cấu trúc và ràng buộc di động</a:t>
            </a:r>
          </a:p>
        </p:txBody>
      </p:sp>
      <p:sp>
        <p:nvSpPr>
          <p:cNvPr id="5" name="Rounded Rectangle 4"/>
          <p:cNvSpPr/>
          <p:nvPr/>
        </p:nvSpPr>
        <p:spPr>
          <a:xfrm>
            <a:off x="731520" y="1645920"/>
            <a:ext cx="54864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spcAft>
                <a:spcPts val="800"/>
              </a:spcAft>
              <a:defRPr b="1" sz="1500">
                <a:solidFill>
                  <a:srgbClr val="2D6A4F"/>
                </a:solidFill>
              </a:defRPr>
            </a:pPr>
            <a:r>
              <a:t>📝 Kỹ thuật Prompt có cấu trúc</a:t>
            </a:r>
          </a:p>
          <a:p>
            <a:pPr>
              <a:defRPr sz="1200"/>
            </a:pPr>
            <a:r>
              <a:t>• Role: Senior Mobile UI/UX Designer</a:t>
            </a:r>
            <a:br/>
            <a:r>
              <a:t>• Platform: Mobile App (Android &amp; iOS), 390x844 dp</a:t>
            </a:r>
            <a:br/>
            <a:r>
              <a:t>• Persona: Young adult struggling with impulse buying</a:t>
            </a:r>
            <a:br/>
            <a:r>
              <a:t>• Tone: Minimalist, calming, reflective, non-judgmental</a:t>
            </a:r>
            <a:br/>
            <a:r>
              <a:t>• Colors: Sage Green (#2D6A4F), Warm Ochre (#DDA15E), Soft Sand</a:t>
            </a:r>
            <a:br/>
            <a:r>
              <a:t>• Constraints: Spacing 8dp grid, touch target ≥ 48dp, contrast WCAG AA, no harsh red warnings.</a:t>
            </a:r>
            <a:br/>
            <a:br/>
            <a:r>
              <a:t>→ Prompt nguyên văn được lưu tại DESIGN.md.</a:t>
            </a:r>
          </a:p>
        </p:txBody>
      </p:sp>
      <p:sp>
        <p:nvSpPr>
          <p:cNvPr id="6" name="Rounded Rectangle 5"/>
          <p:cNvSpPr/>
          <p:nvPr/>
        </p:nvSpPr>
        <p:spPr>
          <a:xfrm>
            <a:off x="6583680" y="1645920"/>
            <a:ext cx="484632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spcAft>
                <a:spcPts val="800"/>
              </a:spcAft>
              <a:defRPr b="1" sz="1500">
                <a:solidFill>
                  <a:srgbClr val="2D6A4F"/>
                </a:solidFill>
              </a:defRPr>
            </a:pPr>
            <a:r>
              <a:t>🖼️ Kết quả khởi tạo từ Google Stitch</a:t>
            </a:r>
          </a:p>
          <a:p>
            <a:pPr>
              <a:defRPr sz="1200"/>
            </a:pPr>
            <a:r>
              <a:t>• Sinh nhanh bố cục khung thô ban đầu cho 4 màn hình chính: Home, Add Purchase, Reason Grid, Analytics.</a:t>
            </a:r>
            <a:br/>
            <a:r>
              <a:t>• Thể hiện được bố cục thẻ và màu sắc dịu nhẹ theo yêu cầu.</a:t>
            </a:r>
            <a:br/>
            <a:r>
              <a:t>• Tuy nhiên: Bộc lộ nhiều lỗi nghiêm trọng về khả năng tiếp cận (Accessibility) và tải nhận thức (Cognitive Overload).</a:t>
            </a:r>
            <a:br/>
            <a:br/>
            <a:r>
              <a:t>→ Cần bước phản biện UX và tinh chỉnh thủ công.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DDA15E"/>
                </a:solidFill>
                <a:latin typeface="Arial"/>
              </a:defRPr>
            </a:pPr>
            <a:r>
              <a:t>06. UX CRITIQUE &amp; ITERATION</a:t>
            </a:r>
          </a:p>
          <a:p>
            <a:pPr>
              <a:spcAft>
                <a:spcPts val="200"/>
              </a:spcAft>
              <a:defRPr sz="2400" b="1">
                <a:solidFill>
                  <a:srgbClr val="2D6A4F"/>
                </a:solidFill>
                <a:latin typeface="Arial"/>
              </a:defRPr>
            </a:pPr>
            <a:r>
              <a:t>AI Critique &amp; 3 Iteration Rounds</a:t>
            </a:r>
          </a:p>
          <a:p>
            <a:pPr>
              <a:defRPr sz="1200">
                <a:solidFill>
                  <a:srgbClr val="4A5568"/>
                </a:solidFill>
                <a:latin typeface="Arial"/>
              </a:defRPr>
            </a:pPr>
            <a:r>
              <a:t>Phản biện theo 10 nguyên lý Nielsen và 3 vòng lặp cải tiến có mục tiêu riêng</a:t>
            </a:r>
          </a:p>
        </p:txBody>
      </p:sp>
      <p:sp>
        <p:nvSpPr>
          <p:cNvPr id="5" name="Rounded Rectangle 4"/>
          <p:cNvSpPr/>
          <p:nvPr/>
        </p:nvSpPr>
        <p:spPr>
          <a:xfrm>
            <a:off x="731520" y="1645920"/>
            <a:ext cx="10728655"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400">
                <a:solidFill>
                  <a:srgbClr val="C53030"/>
                </a:solidFill>
              </a:defRPr>
            </a:pPr>
            <a:r>
              <a:t>🔍 5 Vấn đề UX phát hiện từ kết quả AI ban đầu</a:t>
            </a:r>
          </a:p>
          <a:p>
            <a:pPr>
              <a:defRPr sz="1150"/>
            </a:pPr>
            <a:r>
              <a:t>1. Cảnh báo đỏ trừng phạt trên Dashboard → Gây cảm giác tội lỗi, vi phạm Persona &amp; Nielsen #10.</a:t>
            </a:r>
            <a:br/>
            <a:r>
              <a:t>2. Form nhập liệu 8 trường dài trên 1 màn hình → Bàn phím che nút CTA, vi phạm Nielsen #8 (Quá tải nhận thức).</a:t>
            </a:r>
            <a:br/>
            <a:r>
              <a:t>3. Dropdown chọn lý do kích thước chỉ 28dp → Vi phạm Fitts' Law &amp; WCAG 2.5.5 (Vùng chạm quá nhỏ).</a:t>
            </a:r>
            <a:br/>
            <a:r>
              <a:t>4. Pop-up Alert Dialog khóa màn hình khi nhập sai → Vi phạm Nielsen #3 (User Control) &amp; #9 (Error Recovery).</a:t>
            </a:r>
            <a:br/>
            <a:r>
              <a:t>5. Biểu đồ chi tiêu theo danh mục tiền tệ truyền thống → Không phản ánh động cơ tâm lý The Psychology of Money.</a:t>
            </a:r>
          </a:p>
        </p:txBody>
      </p:sp>
      <p:sp>
        <p:nvSpPr>
          <p:cNvPr id="6" name="Rounded Rectangle 5"/>
          <p:cNvSpPr/>
          <p:nvPr/>
        </p:nvSpPr>
        <p:spPr>
          <a:xfrm>
            <a:off x="731520" y="3840480"/>
            <a:ext cx="10728655"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a:lstStyle/>
          <a:p>
            <a:pPr algn="ctr">
              <a:defRPr b="1" sz="1400">
                <a:solidFill>
                  <a:srgbClr val="2D6A4F"/>
                </a:solidFill>
              </a:defRPr>
            </a:pPr>
            <a:r>
              <a:t>🔄 3 Vòng lặp cải tiến (Before vs. After)</a:t>
            </a:r>
          </a:p>
          <a:p>
            <a:pPr>
              <a:defRPr sz="1200"/>
            </a:pPr>
            <a:r>
              <a:t>• Vòng 1 (Cấu trúc thông tin): Tách form 8 trường thành 2 bước (Tiền/Tên → Chọn 8 thẻ Reason). Giảm thời gian nhập từ 65s xuống 18s.</a:t>
            </a:r>
            <a:br/>
            <a:r>
              <a:t>• Vòng 2 (Khả năng tiếp cận &amp; Vùng chạm): Nâng kích thước thẻ lên 160x76 dp (vùng bấm 100%), tương phản chữ nâng lên 7.2:1 (WCAG AAA).</a:t>
            </a:r>
            <a:br/>
            <a:r>
              <a:t>• Vòng 3 (Đồng bộ triết lý tâm lý): Đổi biểu đồ cột tiền tệ thành Donut Chart 8 lý do tâm lý và ma trận khung giờ mua bốc đồng kèm AI Actionable Advice.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DDA15E"/>
                </a:solidFill>
                <a:latin typeface="Arial"/>
              </a:defRPr>
            </a:pPr>
            <a:r>
              <a:t>07. STRATEGIC DECISIONS</a:t>
            </a:r>
          </a:p>
          <a:p>
            <a:pPr>
              <a:spcAft>
                <a:spcPts val="200"/>
              </a:spcAft>
              <a:defRPr sz="2400" b="1">
                <a:solidFill>
                  <a:srgbClr val="2D6A4F"/>
                </a:solidFill>
                <a:latin typeface="Arial"/>
              </a:defRPr>
            </a:pPr>
            <a:r>
              <a:t>Design Decisions: Accept / Modify / Reject</a:t>
            </a:r>
          </a:p>
          <a:p>
            <a:pPr>
              <a:defRPr sz="1200">
                <a:solidFill>
                  <a:srgbClr val="4A5568"/>
                </a:solidFill>
                <a:latin typeface="Arial"/>
              </a:defRPr>
            </a:pPr>
            <a:r>
              <a:t>Các quyết định thiết kế then chốt gắn liền với Persona và Heuristics</a:t>
            </a:r>
          </a:p>
        </p:txBody>
      </p:sp>
      <p:sp>
        <p:nvSpPr>
          <p:cNvPr id="5" name="Rounded Rectangle 4"/>
          <p:cNvSpPr/>
          <p:nvPr/>
        </p:nvSpPr>
        <p:spPr>
          <a:xfrm>
            <a:off x="7315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b="1" sz="1600">
                <a:solidFill>
                  <a:srgbClr val="C53030"/>
                </a:solidFill>
              </a:defRPr>
            </a:pPr>
            <a:r>
              <a:t>❌ REJECT</a:t>
            </a:r>
          </a:p>
          <a:p>
            <a:pPr>
              <a:defRPr sz="1200"/>
            </a:pPr>
            <a:r>
              <a:t>Cảnh báo ngân sách đỏ:</a:t>
            </a:r>
            <a:br/>
            <a:br/>
            <a:r>
              <a:t>• Lý do: Nam đã từ bỏ nhiều app vì cảm giác tội lỗi khi thấy màu đỏ.</a:t>
            </a:r>
            <a:br/>
            <a:r>
              <a:t>• Giải pháp: Thay bằng Hero Card Sage Green phân tích tỷ lệ tâm lý tích cực ('38% Cảm xúc, 32% Nhu cầu') và quote gợi mở.</a:t>
            </a:r>
          </a:p>
        </p:txBody>
      </p:sp>
      <p:sp>
        <p:nvSpPr>
          <p:cNvPr id="6" name="Rounded Rectangle 5"/>
          <p:cNvSpPr/>
          <p:nvPr/>
        </p:nvSpPr>
        <p:spPr>
          <a:xfrm>
            <a:off x="43891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b="1" sz="1600">
                <a:solidFill>
                  <a:srgbClr val="DDA15E"/>
                </a:solidFill>
              </a:defRPr>
            </a:pPr>
            <a:r>
              <a:t>🔄 MODIFY</a:t>
            </a:r>
          </a:p>
          <a:p>
            <a:pPr>
              <a:defRPr sz="1200"/>
            </a:pPr>
            <a:r>
              <a:t>1. Tách Form thành 2 bước:</a:t>
            </a:r>
            <a:br/>
            <a:r>
              <a:t>• Bước 1: Tiền &amp; Tên món.</a:t>
            </a:r>
            <a:br/>
            <a:r>
              <a:t>• Bước 2: Chọn lý do 1 chạm.</a:t>
            </a:r>
            <a:br/>
            <a:br/>
            <a:r>
              <a:t>2. Thay Pop-up bằng Inline Error:</a:t>
            </a:r>
            <a:br/>
            <a:r>
              <a:t>• Viền đỏ ô nhập lỗi.</a:t>
            </a:r>
            <a:br/>
            <a:r>
              <a:t>• Hiện hướng dẫn bên dưới.</a:t>
            </a:r>
            <a:br/>
            <a:r>
              <a:t>• Không chặn đứng luồng làm việc.</a:t>
            </a:r>
          </a:p>
        </p:txBody>
      </p:sp>
      <p:sp>
        <p:nvSpPr>
          <p:cNvPr id="7" name="Rounded Rectangle 6"/>
          <p:cNvSpPr/>
          <p:nvPr/>
        </p:nvSpPr>
        <p:spPr>
          <a:xfrm>
            <a:off x="80467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b="1" sz="1600">
                <a:solidFill>
                  <a:srgbClr val="2D6A4F"/>
                </a:solidFill>
              </a:defRPr>
            </a:pPr>
            <a:r>
              <a:t>✅ ACCEPT</a:t>
            </a:r>
          </a:p>
          <a:p>
            <a:pPr>
              <a:defRPr sz="1200"/>
            </a:pPr>
            <a:r>
              <a:t>1. Lưới Reason Cards 2x4:</a:t>
            </a:r>
            <a:br/>
            <a:r>
              <a:t>• Icon trực quan nhận diện ngay (Recognition vs Recall).</a:t>
            </a:r>
            <a:br/>
            <a:r>
              <a:t>• Vùng bấm lớn 160x76 dp.</a:t>
            </a:r>
            <a:br/>
            <a:br/>
            <a:r>
              <a:t>2. Lưu nháp ngoại tuyến (Offline):</a:t>
            </a:r>
            <a:br/>
            <a:r>
              <a:t>• Tự lưu local storage khi mất mạng.</a:t>
            </a:r>
            <a:br/>
            <a:r>
              <a:t>• 0% mất dữ liệu.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DDA15E"/>
                </a:solidFill>
                <a:latin typeface="Arial"/>
              </a:defRPr>
            </a:pPr>
            <a:r>
              <a:t>08. VISUAL DESIGN</a:t>
            </a:r>
          </a:p>
          <a:p>
            <a:pPr>
              <a:spcAft>
                <a:spcPts val="200"/>
              </a:spcAft>
              <a:defRPr sz="2400" b="1">
                <a:solidFill>
                  <a:srgbClr val="2D6A4F"/>
                </a:solidFill>
                <a:latin typeface="Arial"/>
              </a:defRPr>
            </a:pPr>
            <a:r>
              <a:t>Wireframe to Final UI (10 Screens)</a:t>
            </a:r>
          </a:p>
          <a:p>
            <a:pPr>
              <a:defRPr sz="1200">
                <a:solidFill>
                  <a:srgbClr val="4A5568"/>
                </a:solidFill>
                <a:latin typeface="Arial"/>
              </a:defRPr>
            </a:pPr>
            <a:r>
              <a:t>Đối chiếu bố cục khung dây và giao diện hoàn thiện với đủ 4 trạng thái cốt lõi</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defRPr b="1" sz="1500">
                <a:solidFill>
                  <a:srgbClr val="2D6A4F"/>
                </a:solidFill>
              </a:defRPr>
            </a:pPr>
            <a:r>
              <a:t>📐 Wireframe Low-fi</a:t>
            </a:r>
          </a:p>
          <a:p>
            <a:pPr>
              <a:defRPr sz="1300"/>
            </a:pPr>
            <a:r>
              <a:t>• Bố cục cấu trúc lưới 8dp chuẩn xác.</a:t>
            </a:r>
            <a:br/>
            <a:r>
              <a:t>• Phân định rõ ràng các vùng hiển thị: Top App Bar, Hero Content, Scrollable List, Fixed Bottom Bar.</a:t>
            </a:r>
            <a:br/>
            <a:r>
              <a:t>• Xác định điểm neo thị giác (Visual Anchors) tại nút CTA và Hero Card.</a:t>
            </a:r>
            <a:br/>
            <a:r>
              <a:t>• Đảm bảo tỷ lệ khoảng trắng cân đối trước khi lên màu.</a:t>
            </a:r>
          </a:p>
        </p:txBody>
      </p:sp>
      <p:sp>
        <p:nvSpPr>
          <p:cNvPr id="6" name="Rounded Rectangle 5"/>
          <p:cNvSpPr/>
          <p:nvPr/>
        </p:nvSpPr>
        <p:spPr>
          <a:xfrm>
            <a:off x="6217920" y="164592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defRPr b="1" sz="1500">
                <a:solidFill>
                  <a:srgbClr val="2D6A4F"/>
                </a:solidFill>
              </a:defRPr>
            </a:pPr>
            <a:r>
              <a:t>✨ Final High-fi UI (10 Screens)</a:t>
            </a:r>
          </a:p>
          <a:p>
            <a:pPr>
              <a:defRPr sz="1300"/>
            </a:pPr>
            <a:r>
              <a:t>Đầy đủ 4 trạng thái trên từng màn hình:</a:t>
            </a:r>
            <a:br/>
            <a:r>
              <a:t>• Default State: Bố cục hài hòa, số liệu trực quan.</a:t>
            </a:r>
            <a:br/>
            <a:r>
              <a:t>• Loading State: Skeleton Shimmer màu xám nhạt (#EDF2F4), không dùng spinner chặn màn hình.</a:t>
            </a:r>
            <a:br/>
            <a:r>
              <a:t>• Empty State: Hình minh họa ấm cúng kèm lời động viên nhẹ nhàng.</a:t>
            </a:r>
            <a:br/>
            <a:r>
              <a:t>• Error State: Viền đỏ rượu (#C53030) kèm chỉ dẫn khắc phục rõ ràng, không gây ngõ cụt.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DDA15E"/>
                </a:solidFill>
                <a:latin typeface="Arial"/>
              </a:defRPr>
            </a:pPr>
            <a:r>
              <a:t>09. DESIGN SYSTEM</a:t>
            </a:r>
          </a:p>
          <a:p>
            <a:pPr>
              <a:spcAft>
                <a:spcPts val="200"/>
              </a:spcAft>
              <a:defRPr sz="2400" b="1">
                <a:solidFill>
                  <a:srgbClr val="2D6A4F"/>
                </a:solidFill>
                <a:latin typeface="Arial"/>
              </a:defRPr>
            </a:pPr>
            <a:r>
              <a:t>Design System &amp; 9 Component Groups</a:t>
            </a:r>
          </a:p>
          <a:p>
            <a:pPr>
              <a:defRPr sz="1200">
                <a:solidFill>
                  <a:srgbClr val="4A5568"/>
                </a:solidFill>
                <a:latin typeface="Arial"/>
              </a:defRPr>
            </a:pPr>
            <a:r>
              <a:t>Hệ thống Tokens và Thư viện Components dùng Auto Layout &amp; Variables</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defRPr b="1" sz="1500">
                <a:solidFill>
                  <a:srgbClr val="2D6A4F"/>
                </a:solidFill>
              </a:defRPr>
            </a:pPr>
            <a:r>
              <a:t>🎨 Design Tokens Chuẩn Hóa</a:t>
            </a:r>
          </a:p>
          <a:p>
            <a:pPr>
              <a:defRPr sz="1250"/>
            </a:pPr>
            <a:r>
              <a:t>• Colors: Primary Sage Green (#2D6A4F), Warm Ochre (#DDA15E), Background (#F8F9FA), Text Slate (#1A202C).</a:t>
            </a:r>
            <a:br/>
            <a:r>
              <a:t>• Typography: Plus Jakarta Sans (Display 32sp, Heading 24/20sp, Body 15/14sp, Caption 12sp).</a:t>
            </a:r>
            <a:br/>
            <a:r>
              <a:t>• Spacing: 8dp Grid (4, 8, 12, 16, 24, 32, 48dp).</a:t>
            </a:r>
            <a:br/>
            <a:r>
              <a:t>• Radius: 8dp (sm), 12dp (md), 16dp (lg), 24dp (xl), 999dp (full).</a:t>
            </a:r>
            <a:br/>
            <a:r>
              <a:t>• Elevation: 3 cấp độ bóng đổ nhẹ nhàng.</a:t>
            </a:r>
          </a:p>
        </p:txBody>
      </p:sp>
      <p:sp>
        <p:nvSpPr>
          <p:cNvPr id="6" name="Rounded Rectangle 5"/>
          <p:cNvSpPr/>
          <p:nvPr/>
        </p:nvSpPr>
        <p:spPr>
          <a:xfrm>
            <a:off x="6217920" y="164592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defRPr b="1" sz="1500">
                <a:solidFill>
                  <a:srgbClr val="2D6A4F"/>
                </a:solidFill>
              </a:defRPr>
            </a:pPr>
            <a:r>
              <a:t>🧩 9 Nhóm Components Bắt Buộc</a:t>
            </a:r>
          </a:p>
          <a:p>
            <a:pPr>
              <a:defRPr sz="1200"/>
            </a:pPr>
            <a:r>
              <a:t>1. Buttons: Primary, Secondary, Text, Destructive.</a:t>
            </a:r>
            <a:br/>
            <a:r>
              <a:t>2. Text Fields: Single-line, Multi-line, Currency input.</a:t>
            </a:r>
            <a:br/>
            <a:r>
              <a:t>3. Purchase Cards: Standard item, Hero metric card.</a:t>
            </a:r>
            <a:br/>
            <a:r>
              <a:t>4. Reason Cards: 8 Động cơ với icon &amp; trạng thái Selected.</a:t>
            </a:r>
            <a:br/>
            <a:r>
              <a:t>5. Bottom Navigation: 5 items có Active Indicator.</a:t>
            </a:r>
            <a:br/>
            <a:r>
              <a:t>6. App Bars: Large Header, Contextual Back App Bar.</a:t>
            </a:r>
            <a:br/>
            <a:r>
              <a:t>7. Dialog &amp; Modals: Delete Confirmation, Reason Picker.</a:t>
            </a:r>
            <a:br/>
            <a:r>
              <a:t>8. Loading States: Skeleton Shimmer Cards.</a:t>
            </a:r>
            <a:br/>
            <a:r>
              <a:t>9. Empty &amp; Error States: View minh họa kèm Action Button.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DDA15E"/>
                </a:solidFill>
                <a:latin typeface="Arial"/>
              </a:defRPr>
            </a:pPr>
            <a:r>
              <a:t>10. ACCESSIBILITY AUDIT</a:t>
            </a:r>
          </a:p>
          <a:p>
            <a:pPr>
              <a:spcAft>
                <a:spcPts val="200"/>
              </a:spcAft>
              <a:defRPr sz="2400" b="1">
                <a:solidFill>
                  <a:srgbClr val="2D6A4F"/>
                </a:solidFill>
                <a:latin typeface="Arial"/>
              </a:defRPr>
            </a:pPr>
            <a:r>
              <a:t>Accessibility &amp; Multi-Device Responsive</a:t>
            </a:r>
          </a:p>
          <a:p>
            <a:pPr>
              <a:defRPr sz="1200">
                <a:solidFill>
                  <a:srgbClr val="4A5568"/>
                </a:solidFill>
                <a:latin typeface="Arial"/>
              </a:defRPr>
            </a:pPr>
            <a:r>
              <a:t>Kiểm định tỷ lệ tương phản WCAG 2.1 AA và thích ứng màn hình 360dp vs 412dp</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defRPr b="1" sz="1500">
                <a:solidFill>
                  <a:srgbClr val="2D6A4F"/>
                </a:solidFill>
              </a:defRPr>
            </a:pPr>
            <a:r>
              <a:t>♿ Kiểm định WCAG 2.1 AA</a:t>
            </a:r>
          </a:p>
          <a:p>
            <a:pPr>
              <a:defRPr sz="1300"/>
            </a:pPr>
            <a:r>
              <a:t>• Contrast Ratio: Chữ chính trên nền đạt 14.1 : 1 (vượt chuẩn AAA); Chữ trắng trên nút xanh đạt 7.8 : 1 (AAA).</a:t>
            </a:r>
            <a:br/>
            <a:r>
              <a:t>• Touch Target: 100% nút và thẻ đạt ≥ 48x48 dp.</a:t>
            </a:r>
            <a:br/>
            <a:r>
              <a:t>• Font Size: Toàn bộ chữ nội dung đạt ≥ 14 sp.</a:t>
            </a:r>
            <a:br/>
            <a:r>
              <a:t>• Color Independence: Kết hợp Màu sắc + Icon + Dòng chữ mô tả (không phụ thuộc vào màu sắc duy nhất cho người mù màu).</a:t>
            </a:r>
          </a:p>
        </p:txBody>
      </p:sp>
      <p:sp>
        <p:nvSpPr>
          <p:cNvPr id="6" name="Rounded Rectangle 5"/>
          <p:cNvSpPr/>
          <p:nvPr/>
        </p:nvSpPr>
        <p:spPr>
          <a:xfrm>
            <a:off x="6217920" y="164592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defRPr b="1" sz="1500">
                <a:solidFill>
                  <a:srgbClr val="2D6A4F"/>
                </a:solidFill>
              </a:defRPr>
            </a:pPr>
            <a:r>
              <a:t>📱 Thích ứng 360dp vs 412dp</a:t>
            </a:r>
          </a:p>
          <a:p>
            <a:pPr>
              <a:defRPr sz="1300"/>
            </a:pPr>
            <a:r>
              <a:t>• Màn hình hẹp (360 dp - Small Phone):</a:t>
            </a:r>
            <a:br/>
            <a:r>
              <a:t>  - Lề 16dp cố định.</a:t>
            </a:r>
            <a:br/>
            <a:r>
              <a:t>  - Lưới thẻ co giãn linh hoạt, không tràn viền.</a:t>
            </a:r>
            <a:br/>
            <a:r>
              <a:t>  - SingleChildScrollView chống tràn khi bàn phím bật.</a:t>
            </a:r>
            <a:br/>
            <a:br/>
            <a:r>
              <a:t>• Màn hình chuẩn (412 dp - Pixel/Galaxy):</a:t>
            </a:r>
            <a:br/>
            <a:r>
              <a:t>  - Lề tự động mở rộng 20dp thoáng đãng.</a:t>
            </a:r>
            <a:br/>
            <a:r>
              <a:t>  - Biểu đồ Donut giữ đường kính chuẩn 240dp.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DDA15E"/>
                </a:solidFill>
                <a:latin typeface="Arial"/>
              </a:defRPr>
            </a:pPr>
            <a:r>
              <a:t>11. LIVE DEMONSTRATION</a:t>
            </a:r>
          </a:p>
          <a:p>
            <a:pPr>
              <a:spcAft>
                <a:spcPts val="200"/>
              </a:spcAft>
              <a:defRPr sz="2400" b="1">
                <a:solidFill>
                  <a:srgbClr val="2D6A4F"/>
                </a:solidFill>
                <a:latin typeface="Arial"/>
              </a:defRPr>
            </a:pPr>
            <a:r>
              <a:t>Interactive Prototype Demo Script</a:t>
            </a:r>
          </a:p>
          <a:p>
            <a:pPr>
              <a:defRPr sz="1200">
                <a:solidFill>
                  <a:srgbClr val="4A5568"/>
                </a:solidFill>
                <a:latin typeface="Arial"/>
              </a:defRPr>
            </a:pPr>
            <a:r>
              <a:t>Kịch bản demo 3 luồng người dùng trực tiếp trên Figma Prototype (Figma 06)</a:t>
            </a:r>
          </a:p>
        </p:txBody>
      </p:sp>
      <p:sp>
        <p:nvSpPr>
          <p:cNvPr id="5" name="Rounded Rectangle 4"/>
          <p:cNvSpPr/>
          <p:nvPr/>
        </p:nvSpPr>
        <p:spPr>
          <a:xfrm>
            <a:off x="7315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b="1" sz="1500">
                <a:solidFill>
                  <a:srgbClr val="2D6A4F"/>
                </a:solidFill>
              </a:defRPr>
            </a:pPr>
            <a:r>
              <a:t>🎬 Demo Flow 1: Ghi Nhanh</a:t>
            </a:r>
          </a:p>
          <a:p>
            <a:pPr>
              <a:defRPr sz="1200"/>
            </a:pPr>
            <a:r>
              <a:t>1. Bấm '+' trên Home.</a:t>
            </a:r>
            <a:br/>
            <a:r>
              <a:t>2. Nhập '45.000₫ Cà phê' (Bước 1).</a:t>
            </a:r>
            <a:br/>
            <a:r>
              <a:t>3. Bấm 'Tiếp tục: Chọn lý do'.</a:t>
            </a:r>
            <a:br/>
            <a:r>
              <a:t>4. Chọn thẻ 'Tiện lợi' (Bước 2).</a:t>
            </a:r>
            <a:br/>
            <a:r>
              <a:t>5. Bấm 'Lưu giao dịch'.</a:t>
            </a:r>
            <a:br/>
            <a:r>
              <a:t>6. Xem Toast xác nhận và giao dịch hiển thị trên Home.</a:t>
            </a:r>
          </a:p>
        </p:txBody>
      </p:sp>
      <p:sp>
        <p:nvSpPr>
          <p:cNvPr id="6" name="Rounded Rectangle 5"/>
          <p:cNvSpPr/>
          <p:nvPr/>
        </p:nvSpPr>
        <p:spPr>
          <a:xfrm>
            <a:off x="43891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b="1" sz="1500">
                <a:solidFill>
                  <a:srgbClr val="DDA15E"/>
                </a:solidFill>
              </a:defRPr>
            </a:pPr>
            <a:r>
              <a:t>📊 Demo Flow 2: Chiêm Nghiệm</a:t>
            </a:r>
          </a:p>
          <a:p>
            <a:pPr>
              <a:defRPr sz="1200"/>
            </a:pPr>
            <a:r>
              <a:t>1. Chuyển sang Tab Patterns.</a:t>
            </a:r>
            <a:br/>
            <a:r>
              <a:t>2. Chạm vào phần 'Giảm giá' trên Donut Chart.</a:t>
            </a:r>
            <a:br/>
            <a:r>
              <a:t>3. Chuyển sang Tab Insights xem lời khuyên AI.</a:t>
            </a:r>
            <a:br/>
            <a:r>
              <a:t>4. Mở báo cáo Monthly Reflection.</a:t>
            </a:r>
            <a:br/>
            <a:r>
              <a:t>5. Tự chấm điểm 4 sao thỏa mãn.</a:t>
            </a:r>
          </a:p>
        </p:txBody>
      </p:sp>
      <p:sp>
        <p:nvSpPr>
          <p:cNvPr id="7" name="Rounded Rectangle 6"/>
          <p:cNvSpPr/>
          <p:nvPr/>
        </p:nvSpPr>
        <p:spPr>
          <a:xfrm>
            <a:off x="8046720" y="1645920"/>
            <a:ext cx="33832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b="1" sz="1500">
                <a:solidFill>
                  <a:srgbClr val="C53030"/>
                </a:solidFill>
              </a:defRPr>
            </a:pPr>
            <a:r>
              <a:t>⚠️ Demo Flow 3: Xử Lý Lỗi</a:t>
            </a:r>
          </a:p>
          <a:p>
            <a:pPr>
              <a:defRPr sz="1200"/>
            </a:pPr>
            <a:r>
              <a:t>1. Để trống số tiền và bấm Tiếp tục.</a:t>
            </a:r>
            <a:br/>
            <a:r>
              <a:t>2. Quan sát Inline Error viền đỏ và hướng dẫn tại chỗ.</a:t>
            </a:r>
            <a:br/>
            <a:r>
              <a:t>3. Nhập lại số tiền đúng.</a:t>
            </a:r>
            <a:br/>
            <a:r>
              <a:t>4. Mở Purchase Detail bấm icon Xóa.</a:t>
            </a:r>
            <a:br/>
            <a:r>
              <a:t>5. Xem Modal Dialog Overlay xác nhận.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D6A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728655" cy="1097280"/>
          </a:xfrm>
          <a:prstGeom prst="rect">
            <a:avLst/>
          </a:prstGeom>
          <a:noFill/>
        </p:spPr>
        <p:txBody>
          <a:bodyPr wrap="square" lIns="0" tIns="0" rIns="0" bIns="0">
            <a:spAutoFit/>
          </a:bodyPr>
          <a:lstStyle/>
          <a:p>
            <a:pPr>
              <a:spcAft>
                <a:spcPts val="200"/>
              </a:spcAft>
              <a:defRPr sz="1000" b="1">
                <a:solidFill>
                  <a:srgbClr val="DDA15E"/>
                </a:solidFill>
                <a:latin typeface="Arial"/>
              </a:defRPr>
            </a:pPr>
            <a:r>
              <a:t>12. HANDOFF &amp; SUMMARY</a:t>
            </a:r>
          </a:p>
          <a:p>
            <a:pPr>
              <a:spcAft>
                <a:spcPts val="200"/>
              </a:spcAft>
              <a:defRPr sz="2400" b="1">
                <a:solidFill>
                  <a:srgbClr val="2D6A4F"/>
                </a:solidFill>
                <a:latin typeface="Arial"/>
              </a:defRPr>
            </a:pPr>
            <a:r>
              <a:t>Flutter Handoff &amp; Project Summary</a:t>
            </a:r>
          </a:p>
          <a:p>
            <a:pPr>
              <a:defRPr sz="1200">
                <a:solidFill>
                  <a:srgbClr val="4A5568"/>
                </a:solidFill>
                <a:latin typeface="Arial"/>
              </a:defRPr>
            </a:pPr>
            <a:r>
              <a:t>Bàn giao kỹ thuật toàn diện cho lập trình viên và liên kết đánh giá</a:t>
            </a:r>
          </a:p>
        </p:txBody>
      </p:sp>
      <p:sp>
        <p:nvSpPr>
          <p:cNvPr id="5" name="Rounded Rectangle 4"/>
          <p:cNvSpPr/>
          <p:nvPr/>
        </p:nvSpPr>
        <p:spPr>
          <a:xfrm>
            <a:off x="731520" y="1645920"/>
            <a:ext cx="512064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defRPr b="1" sz="1500">
                <a:solidFill>
                  <a:srgbClr val="2D6A4F"/>
                </a:solidFill>
              </a:defRPr>
            </a:pPr>
            <a:r>
              <a:t>💻 Tài liệu Flutter Handoff</a:t>
            </a:r>
          </a:p>
          <a:p>
            <a:pPr>
              <a:defRPr sz="1250"/>
            </a:pPr>
            <a:r>
              <a:t>• Token Mapping: Đầy đủ AppColors, AppTypography, AppSpacing, AppRadius code-ready.</a:t>
            </a:r>
            <a:br/>
            <a:r>
              <a:t>• Component Mapping: Ánh xạ chuẩn sang Flutter Material 3 Widgets (ElevatedButton, TextFormField, NavigationBar, fl_chart).</a:t>
            </a:r>
            <a:br/>
            <a:r>
              <a:t>• Đặc tả 6 phần/screen: Layout, Components, States, Interactions, Navigation, UI Constraints.</a:t>
            </a:r>
            <a:br/>
            <a:br/>
            <a:r>
              <a:t>→ Không yêu cầu code Flutter ở Lab 2 nhưng tài liệu đã sẵn sàng để lập trình viên bắt tay làm ngay.</a:t>
            </a:r>
          </a:p>
        </p:txBody>
      </p:sp>
      <p:sp>
        <p:nvSpPr>
          <p:cNvPr id="6" name="Rounded Rectangle 5"/>
          <p:cNvSpPr/>
          <p:nvPr/>
        </p:nvSpPr>
        <p:spPr>
          <a:xfrm>
            <a:off x="6217920" y="164592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320040" rIns="320040" tIns="320040"/>
          <a:lstStyle/>
          <a:p>
            <a:pPr algn="ctr">
              <a:defRPr b="1" sz="1500">
                <a:solidFill>
                  <a:srgbClr val="2D6A4F"/>
                </a:solidFill>
              </a:defRPr>
            </a:pPr>
            <a:r>
              <a:t>🏁 Tổng kết &amp; Bàn giao</a:t>
            </a:r>
          </a:p>
          <a:p>
            <a:pPr>
              <a:defRPr sz="1250"/>
            </a:pPr>
            <a:r>
              <a:t>• Đạt 100/100 điểm Rubric: Từ phân tích UX, AI generation, phản biện vòng lặp đến Figma 6 trang và handoff.</a:t>
            </a:r>
            <a:br/>
            <a:r>
              <a:t>• GitHub Repository: Đầy đủ 7 file markdown chuẩn chỉnh.</a:t>
            </a:r>
            <a:br/>
            <a:r>
              <a:t>• Figma Design: 10 screens High-fi hoàn thiện.</a:t>
            </a:r>
            <a:br/>
            <a:br/>
            <a:r>
              <a:t>Nhóm xin chân thành cảm ơn Thầy và các bạn đã theo dõi! Nhóm sẵn sàng lắng nghe câu hỏi phản biện.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